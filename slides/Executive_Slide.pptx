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086475"/>
            <a:ext cx="11049000" cy="295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66825"/>
            <a:ext cx="5334000" cy="1619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76575"/>
            <a:ext cx="5334000" cy="17764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266825"/>
            <a:ext cx="5334000" cy="1657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114675"/>
            <a:ext cx="5334000" cy="274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390775"/>
            <a:ext cx="483870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100512"/>
            <a:ext cx="2371725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650" y="4100512"/>
            <a:ext cx="2371725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1981200"/>
            <a:ext cx="11049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20150" y="619125"/>
            <a:ext cx="2800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 Medium"/>
              </a:rPr>
              <a:t>Retention Analytics &amp; Cost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229350"/>
            <a:ext cx="342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 SemiBold"/>
              </a:rPr>
              <a:t>Mudra Verma | Executive Summary &amp; Strategy Deliverable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15550" y="6229350"/>
            <a:ext cx="150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Confidential &amp; Proprietary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483060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Predicting 2-Year Customer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462" y="1485900"/>
            <a:ext cx="486560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MODEL &amp; DECISION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1762125"/>
            <a:ext cx="48577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Trained a </a:t>
            </a:r>
            <a:r>
              <a:rPr b="1" sz="1087" i="0" u="none">
                <a:solidFill>
                  <a:srgbClr val="334155"/>
                </a:solidFill>
                <a:latin typeface="Plus Jakarta Sans"/>
              </a:rPr>
              <a:t>Calibrated Logistic Regression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 model on 1M customer records to predict 2-year suspension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252662"/>
            <a:ext cx="48577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Shifted decision threshold from default </a:t>
            </a:r>
            <a:r>
              <a:rPr b="1" sz="1087" i="0" u="none">
                <a:solidFill>
                  <a:srgbClr val="334155"/>
                </a:solidFill>
                <a:latin typeface="Plus Jakarta Sans"/>
              </a:rPr>
              <a:t>0.50 to 0.05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, intentionally prioritizing high recall over baseline accuracy.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562" y="3295650"/>
            <a:ext cx="4825603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Plus Jakarta Sans"/>
              </a:rPr>
              <a:t>ASYMMETRIC ECONOMIC RATIONALE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571875"/>
            <a:ext cx="48577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1E3A8A"/>
                </a:solidFill>
                <a:latin typeface="Plus Jakarta Sans"/>
              </a:rPr>
              <a:t>Missing a true churner results in severe lost lifetime value compared to the minor cost of an unnecessary retention offer.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1514475"/>
            <a:ext cx="4838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VALIDATION SET 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462" y="3333750"/>
            <a:ext cx="486560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PRODUCTION PLAYBOOK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1504950"/>
            <a:ext cx="147637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3314700"/>
            <a:ext cx="185737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34150" y="1752600"/>
            <a:ext cx="22669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4D399"/>
                </a:solidFill>
                <a:latin typeface="Plus Jakarta Sans"/>
              </a:rPr>
              <a:t>$4,282,800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4150" y="2514600"/>
            <a:ext cx="1466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CBD5E1"/>
                </a:solidFill>
                <a:latin typeface="Plus Jakarta Sans"/>
              </a:rPr>
              <a:t>Threshold 0.50: </a:t>
            </a:r>
            <a:r>
              <a:rPr b="1" sz="1012" i="0" u="none">
                <a:solidFill>
                  <a:srgbClr val="FFFFFF"/>
                </a:solidFill>
                <a:latin typeface="Plus Jakarta Sans"/>
              </a:rPr>
              <a:t>$6.59M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0637" y="2514600"/>
            <a:ext cx="66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6950" y="2514600"/>
            <a:ext cx="1485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CBD5E1"/>
                </a:solidFill>
                <a:latin typeface="Plus Jakarta Sans"/>
              </a:rPr>
              <a:t>Threshold 0.05: </a:t>
            </a:r>
            <a:r>
              <a:rPr b="1" sz="1012" i="0" u="none">
                <a:solidFill>
                  <a:srgbClr val="FFFFFF"/>
                </a:solidFill>
                <a:latin typeface="Plus Jakarta Sans"/>
              </a:rPr>
              <a:t>$2.30M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4625" y="3352800"/>
            <a:ext cx="147637" cy="1428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24625" y="3609975"/>
            <a:ext cx="48577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087" i="0" u="none">
                <a:solidFill>
                  <a:srgbClr val="0F172A"/>
                </a:solidFill>
                <a:latin typeface="Plus Jakarta Sans"/>
              </a:rPr>
              <a:t>Scoring Cadence: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 Batch score customer accounts on a weekly or monthly schedule.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4100512"/>
            <a:ext cx="48577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087" i="0" u="none">
                <a:solidFill>
                  <a:srgbClr val="0F172A"/>
                </a:solidFill>
                <a:latin typeface="Plus Jakarta Sans"/>
              </a:rPr>
              <a:t>Action Trigger: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 Automatically initiate retention campaigns for probability ≥ </a:t>
            </a:r>
            <a:r>
              <a:rPr b="1" sz="1087" i="0" u="none">
                <a:solidFill>
                  <a:srgbClr val="0F172A"/>
                </a:solidFill>
                <a:latin typeface="Plus Jakarta Sans"/>
              </a:rPr>
              <a:t>0.05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4591050"/>
            <a:ext cx="48577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087" i="0" u="none">
                <a:solidFill>
                  <a:srgbClr val="0F172A"/>
                </a:solidFill>
                <a:latin typeface="Plus Jakarta Sans"/>
              </a:rPr>
              <a:t>Capacity Management:</a:t>
            </a:r>
            <a:r>
              <a:rPr b="0" sz="1087" i="0" u="none">
                <a:solidFill>
                  <a:srgbClr val="334155"/>
                </a:solidFill>
                <a:latin typeface="Plus Jakarta Sans"/>
              </a:rPr>
              <a:t> If campaign resources are constrained, prioritize customers strictly by highest-risk deciles.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450" y="4205287"/>
            <a:ext cx="21240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SemiBold"/>
              </a:rPr>
              <a:t>MISSED CHURNER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50" y="4329112"/>
            <a:ext cx="2124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Plus Jakarta Sans"/>
              </a:rPr>
              <a:t>$5,000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9475" y="4205287"/>
            <a:ext cx="21240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SemiBold"/>
              </a:rPr>
              <a:t>RETENTION 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9475" y="4329112"/>
            <a:ext cx="21240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$200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